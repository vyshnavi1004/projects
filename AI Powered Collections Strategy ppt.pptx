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9639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055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24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001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52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4539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651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937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55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11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9962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5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315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371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8587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1772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486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074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695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450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9388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6031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4665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6445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0085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347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719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125A-8271-B2BB-57E5-8145907ED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C2F6D-A710-0AAF-B050-1B6B2EA15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B86C6-43B5-1DB1-B7BD-0BEFC033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908FE-FB7B-746A-18CF-11524DBE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2AB97-D60E-5E08-13DB-B9627CCDE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927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0D1998BC-E861-4A4D-84A0-0749B5B78DA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D4D56768-1F0E-458E-83BF-A09511697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36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D15E4-F8EA-1B5D-85A0-1D6221431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988" y="1521541"/>
            <a:ext cx="5860024" cy="1496961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Powered Collections Strategy</a:t>
            </a:r>
            <a:endParaRPr lang="en-IN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45924-FD9E-D266-1BFD-51FD6849A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3546987"/>
            <a:ext cx="8825658" cy="86142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IN" cap="none" dirty="0">
                <a:solidFill>
                  <a:srgbClr val="002060"/>
                </a:solidFill>
              </a:rPr>
              <a:t>Leveraging agentic AI for scalable, fair, and effective debt management at </a:t>
            </a:r>
            <a:r>
              <a:rPr lang="en-IN" cap="none" dirty="0" err="1">
                <a:solidFill>
                  <a:srgbClr val="002060"/>
                </a:solidFill>
              </a:rPr>
              <a:t>Geldium</a:t>
            </a:r>
            <a:endParaRPr lang="en-IN" cap="none" dirty="0">
              <a:solidFill>
                <a:srgbClr val="002060"/>
              </a:solidFill>
            </a:endParaRPr>
          </a:p>
        </p:txBody>
      </p:sp>
      <p:pic>
        <p:nvPicPr>
          <p:cNvPr id="5" name="Graphic 4" descr="Brain in head with solid fill">
            <a:extLst>
              <a:ext uri="{FF2B5EF4-FFF2-40B4-BE49-F238E27FC236}">
                <a16:creationId xmlns:a16="http://schemas.microsoft.com/office/drawing/2014/main" id="{26A50831-0AAD-C73F-C58E-B104C311F4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05484" y="2349911"/>
            <a:ext cx="644013" cy="62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01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F2116-1C49-A681-3D19-95EAAAA74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9" y="407223"/>
            <a:ext cx="6472566" cy="1133246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the systems works</a:t>
            </a:r>
            <a:endParaRPr lang="en-IN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79541F-4578-B011-8730-3BAB88EF4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740310"/>
            <a:ext cx="9934414" cy="4355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Inputs : 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utilization, missed payments, income, credit score, and loan balance.</a:t>
            </a:r>
          </a:p>
          <a:p>
            <a:pPr marL="0" indent="0">
              <a:buNone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Logic:</a:t>
            </a:r>
          </a:p>
          <a:p>
            <a:pPr marL="0" indent="0">
              <a:buNone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Clean customer data and use a proposed Logistic Regression model to assess   delinquency risk.</a:t>
            </a:r>
          </a:p>
          <a:p>
            <a:pPr marL="0" indent="0">
              <a:buNone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Actions:</a:t>
            </a:r>
          </a:p>
          <a:p>
            <a:pPr marL="0" indent="0">
              <a:buNone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Send payment reminders, provide repayment guidance, and escalate sensitive cases to staff.</a:t>
            </a:r>
          </a:p>
          <a:p>
            <a:pPr marL="0" indent="0">
              <a:buNone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Loop:</a:t>
            </a:r>
          </a:p>
          <a:p>
            <a:pPr marL="0" indent="0">
              <a:buNone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Monitor repayment outcomes, customer responses, and model fairness to improve performance</a:t>
            </a:r>
            <a:r>
              <a:rPr lang="en-IN" dirty="0"/>
              <a:t>.</a:t>
            </a:r>
          </a:p>
        </p:txBody>
      </p:sp>
      <p:pic>
        <p:nvPicPr>
          <p:cNvPr id="10" name="Graphic 9" descr="Lightbulb with solid fill">
            <a:extLst>
              <a:ext uri="{FF2B5EF4-FFF2-40B4-BE49-F238E27FC236}">
                <a16:creationId xmlns:a16="http://schemas.microsoft.com/office/drawing/2014/main" id="{8C06827B-E27F-BA5C-8993-99B18ABB9D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0" y="453392"/>
            <a:ext cx="996970" cy="1040909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88715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PU with binary numbers and blueprint">
            <a:extLst>
              <a:ext uri="{FF2B5EF4-FFF2-40B4-BE49-F238E27FC236}">
                <a16:creationId xmlns:a16="http://schemas.microsoft.com/office/drawing/2014/main" id="{8580D607-D6B6-6875-0E70-7D104E764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28A6C1-4699-2A9E-B057-6DB63FEBE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 of Agentic AI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FD1594F-7B0F-661E-23B2-04287FBD69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5383226"/>
              </p:ext>
            </p:extLst>
          </p:nvPr>
        </p:nvGraphicFramePr>
        <p:xfrm>
          <a:off x="796857" y="1766942"/>
          <a:ext cx="10598286" cy="4122581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5290458">
                  <a:extLst>
                    <a:ext uri="{9D8B030D-6E8A-4147-A177-3AD203B41FA5}">
                      <a16:colId xmlns:a16="http://schemas.microsoft.com/office/drawing/2014/main" val="2992633681"/>
                    </a:ext>
                  </a:extLst>
                </a:gridCol>
                <a:gridCol w="5307828">
                  <a:extLst>
                    <a:ext uri="{9D8B030D-6E8A-4147-A177-3AD203B41FA5}">
                      <a16:colId xmlns:a16="http://schemas.microsoft.com/office/drawing/2014/main" val="2244347983"/>
                    </a:ext>
                  </a:extLst>
                </a:gridCol>
              </a:tblGrid>
              <a:tr h="671458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Autonomous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Human Oversight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2874896"/>
                  </a:ext>
                </a:extLst>
              </a:tr>
              <a:tr h="57428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Check data for missing or inconsistent values.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Review unresolved data-quality issues.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154216"/>
                  </a:ext>
                </a:extLst>
              </a:tr>
              <a:tr h="61844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Generate risk assessments using a validated model.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Approve risk thresholds and collection policies.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3761465"/>
                  </a:ext>
                </a:extLst>
              </a:tr>
              <a:tr h="68326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Send approved routine payment reminders.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Handle disputes, complaints, and hardship cases.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248630"/>
                  </a:ext>
                </a:extLst>
              </a:tr>
              <a:tr h="8455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Track customer engagement and repayment outcomes.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Review fairness and model performance.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381741"/>
                  </a:ext>
                </a:extLst>
              </a:tr>
              <a:tr h="70792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Flag unusual cases for further review.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Approve major changes to the system.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6146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92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7C473-9C25-709C-97D6-9E9513B18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Responsible AI Guardrails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D3552-E715-8C56-614C-4588CE6F7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1494301"/>
            <a:ext cx="7340783" cy="460169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Fairness</a:t>
            </a: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outcomes across relevant customer groups.</a:t>
            </a: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unfair treatment based on demographic or employment characteristics.</a:t>
            </a:r>
          </a:p>
          <a:p>
            <a:pPr marL="0" indent="0">
              <a:buNone/>
            </a:pPr>
            <a:r>
              <a:rPr lang="en-IN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Explainability</a:t>
            </a: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 the factors influencing risk assessments.</a:t>
            </a: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understandable explanations to collections staff.</a:t>
            </a:r>
          </a:p>
          <a:p>
            <a:pPr marL="0" indent="0">
              <a:buNone/>
            </a:pPr>
            <a:r>
              <a:rPr lang="en-IN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Compliance and Accountability</a:t>
            </a: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 applicable financial, consumer-protection, and data-protection requirements.</a:t>
            </a: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records of automated actions and human reviews.</a:t>
            </a:r>
          </a:p>
          <a:p>
            <a:pPr marL="0" indent="0">
              <a:buNone/>
            </a:pPr>
            <a:r>
              <a:rPr lang="en-IN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Privacy and Human Oversight</a:t>
            </a: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 customer financial data and restrict access.</a:t>
            </a: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 human review for complaints, disputes, and sensitive cases.</a:t>
            </a:r>
          </a:p>
          <a:p>
            <a:endParaRPr lang="en-IN" sz="1300" dirty="0"/>
          </a:p>
        </p:txBody>
      </p:sp>
      <p:pic>
        <p:nvPicPr>
          <p:cNvPr id="8" name="Graphic 7" descr="Man carrying laptop">
            <a:extLst>
              <a:ext uri="{FF2B5EF4-FFF2-40B4-BE49-F238E27FC236}">
                <a16:creationId xmlns:a16="http://schemas.microsoft.com/office/drawing/2014/main" id="{364719C8-E59B-619E-D0F2-F1BAEBFBE8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44872" y="1870831"/>
            <a:ext cx="4147127" cy="3116338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1537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3238-FCE9-759B-9733-AB5742DDE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801" y="488751"/>
            <a:ext cx="7580182" cy="1077379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Business Impact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2756F-3449-967F-3BDC-7E8954272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5801" y="1800209"/>
            <a:ext cx="7811294" cy="42442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Business KPIs</a:t>
            </a:r>
          </a:p>
          <a:p>
            <a:pPr lvl="0"/>
            <a:r>
              <a:rPr lang="en-IN" sz="2000" dirty="0"/>
              <a:t>Delinquency rate</a:t>
            </a:r>
          </a:p>
          <a:p>
            <a:pPr lvl="0"/>
            <a:r>
              <a:rPr lang="en-IN" sz="2000" dirty="0"/>
              <a:t>Repayment recovery rate</a:t>
            </a:r>
          </a:p>
          <a:p>
            <a:pPr lvl="0"/>
            <a:r>
              <a:rPr lang="en-IN" sz="2000" dirty="0"/>
              <a:t>Customer response rate</a:t>
            </a:r>
          </a:p>
          <a:p>
            <a:pPr lvl="0"/>
            <a:r>
              <a:rPr lang="en-IN" sz="2000" dirty="0"/>
              <a:t>Cost per resolved collection case</a:t>
            </a:r>
          </a:p>
          <a:p>
            <a:pPr lvl="0"/>
            <a:r>
              <a:rPr lang="en-IN" sz="2000" dirty="0"/>
              <a:t>Model precision, recall, and false-positive rate</a:t>
            </a:r>
          </a:p>
          <a:p>
            <a:pPr lvl="0"/>
            <a:r>
              <a:rPr lang="en-IN" sz="2000" dirty="0"/>
              <a:t>Fairness across customer groups</a:t>
            </a:r>
          </a:p>
          <a:p>
            <a:endParaRPr lang="en-IN" dirty="0"/>
          </a:p>
        </p:txBody>
      </p:sp>
      <p:pic>
        <p:nvPicPr>
          <p:cNvPr id="6" name="Graphic 5" descr="Research with solid fill">
            <a:extLst>
              <a:ext uri="{FF2B5EF4-FFF2-40B4-BE49-F238E27FC236}">
                <a16:creationId xmlns:a16="http://schemas.microsoft.com/office/drawing/2014/main" id="{71457EFB-A3A1-C30F-9CAF-1ACD6B5A5F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78875" y="667183"/>
            <a:ext cx="1215850" cy="95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9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50379-1D51-C6D2-C305-086B0DA01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17183" y="1435510"/>
            <a:ext cx="8886792" cy="4489836"/>
          </a:xfrm>
        </p:spPr>
        <p:txBody>
          <a:bodyPr/>
          <a:lstStyle/>
          <a:p>
            <a:pPr marL="0" lvl="0" indent="0">
              <a:buNone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Outcomes</a:t>
            </a:r>
          </a:p>
          <a:p>
            <a:pPr lvl="0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Timely, relevant repayment reminders</a:t>
            </a:r>
          </a:p>
          <a:p>
            <a:pPr lvl="0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repayment guidance</a:t>
            </a:r>
          </a:p>
          <a:p>
            <a:pPr lvl="0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consistent customer treatment</a:t>
            </a:r>
          </a:p>
          <a:p>
            <a:pPr lvl="0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access to human support</a:t>
            </a:r>
          </a:p>
          <a:p>
            <a:pPr lvl="0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Fewer unnecessary collection contacts</a:t>
            </a:r>
          </a:p>
          <a:p>
            <a:pPr lvl="0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transparency and trust</a:t>
            </a:r>
          </a:p>
          <a:p>
            <a:endParaRPr lang="en-IN" dirty="0"/>
          </a:p>
        </p:txBody>
      </p:sp>
      <p:pic>
        <p:nvPicPr>
          <p:cNvPr id="6" name="Graphic 5" descr="Handshake with solid fill">
            <a:extLst>
              <a:ext uri="{FF2B5EF4-FFF2-40B4-BE49-F238E27FC236}">
                <a16:creationId xmlns:a16="http://schemas.microsoft.com/office/drawing/2014/main" id="{BB440473-029A-D45D-9CCE-8ECB42DF12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7164" y="1553497"/>
            <a:ext cx="702358" cy="52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2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500E-C958-976F-E0C6-D0E570D1B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72272"/>
            <a:ext cx="9635666" cy="1006413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techniques &amp; Improvements</a:t>
            </a: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CA8C5-0FE9-E9E6-E779-2297103BF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Fairness Auditing: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Test model outcomes across customer groups to identify potential bias.</a:t>
            </a:r>
          </a:p>
          <a:p>
            <a:pPr marL="0" lvl="0" indent="0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Feedback-Driven Learning: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Incorporate repayment outcomes and collection feedback to improve future predictions.</a:t>
            </a:r>
          </a:p>
          <a:p>
            <a:pPr marL="0" lvl="0" indent="0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Risk Segmentation: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Classify customers into risk categories to prioritize appropriate collection strategies.</a:t>
            </a:r>
          </a:p>
          <a:p>
            <a:pPr marL="0" lvl="0" indent="0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Prediction Threshold Optimization: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Adjust the classification threshold to balance missed high-risk customers against false alarms.</a:t>
            </a:r>
          </a:p>
          <a:p>
            <a:endParaRPr lang="en-IN" dirty="0"/>
          </a:p>
        </p:txBody>
      </p:sp>
      <p:pic>
        <p:nvPicPr>
          <p:cNvPr id="6" name="Graphic 5" descr="Lightbulb and gear with solid fill">
            <a:extLst>
              <a:ext uri="{FF2B5EF4-FFF2-40B4-BE49-F238E27FC236}">
                <a16:creationId xmlns:a16="http://schemas.microsoft.com/office/drawing/2014/main" id="{AE8A74D8-FFDD-12B9-ECAE-F49D2B3CE9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95587" y="1636790"/>
            <a:ext cx="3225521" cy="2704099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4137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EB82A-CA29-1B89-1DA2-FB3BF7302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1714" y="2550082"/>
            <a:ext cx="6472566" cy="878918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</a:t>
            </a:r>
            <a:endParaRPr lang="en-IN" sz="5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720951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75</TotalTime>
  <Words>377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JasmineUPC</vt:lpstr>
      <vt:lpstr>Raleway</vt:lpstr>
      <vt:lpstr>School Days</vt:lpstr>
      <vt:lpstr>AI Powered Collections Strategy</vt:lpstr>
      <vt:lpstr>How the systems works</vt:lpstr>
      <vt:lpstr>Role of Agentic AI</vt:lpstr>
      <vt:lpstr>Responsible AI Guardrails</vt:lpstr>
      <vt:lpstr>Expected Business Impact</vt:lpstr>
      <vt:lpstr>PowerPoint Presentation</vt:lpstr>
      <vt:lpstr>Additional techniques &amp; Improvements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Vyshnavi Mutya</dc:creator>
  <cp:lastModifiedBy>Vyshnavi Mutya</cp:lastModifiedBy>
  <cp:revision>1</cp:revision>
  <dcterms:created xsi:type="dcterms:W3CDTF">2026-10-15T05:55:29Z</dcterms:created>
  <dcterms:modified xsi:type="dcterms:W3CDTF">2026-10-15T07:11:03Z</dcterms:modified>
</cp:coreProperties>
</file>